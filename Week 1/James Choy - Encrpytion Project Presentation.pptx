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Century Schoolbook"/>
      <p:regular r:id="rId16"/>
      <p:bold r:id="rId17"/>
      <p:italic r:id="rId18"/>
      <p:boldItalic r:id="rId19"/>
    </p:embeddedFont>
    <p:embeddedFont>
      <p:font typeface="Orbitron"/>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rbitron-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Orbitron-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CenturySchoolbook-bold.fntdata"/><Relationship Id="rId16" Type="http://schemas.openxmlformats.org/officeDocument/2006/relationships/font" Target="fonts/CenturySchoolbook-regular.fntdata"/><Relationship Id="rId5" Type="http://schemas.openxmlformats.org/officeDocument/2006/relationships/notesMaster" Target="notesMasters/notesMaster1.xml"/><Relationship Id="rId19" Type="http://schemas.openxmlformats.org/officeDocument/2006/relationships/font" Target="fonts/CenturySchoolbook-boldItalic.fntdata"/><Relationship Id="rId6" Type="http://schemas.openxmlformats.org/officeDocument/2006/relationships/slide" Target="slides/slide1.xml"/><Relationship Id="rId18" Type="http://schemas.openxmlformats.org/officeDocument/2006/relationships/font" Target="fonts/CenturySchoolbook-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1e24e162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91e24e162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1a0a6775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1a0a6775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1a0a6775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1a0a6775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b1a0a6775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b1a0a6775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1a0a677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b1a0a677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1a0a67754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1a0a67754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1a0a67754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1a0a6775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b1a0a6775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b1a0a6775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208bdf5b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208bdf5b8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581331" y="1313356"/>
            <a:ext cx="4014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latin typeface="Century Schoolbook"/>
                <a:ea typeface="Century Schoolbook"/>
                <a:cs typeface="Century Schoolbook"/>
                <a:sym typeface="Century Schoolbook"/>
              </a:rPr>
              <a:t>Encryption Project</a:t>
            </a:r>
            <a:endParaRPr b="1" sz="3000">
              <a:latin typeface="Century Schoolbook"/>
              <a:ea typeface="Century Schoolbook"/>
              <a:cs typeface="Century Schoolbook"/>
              <a:sym typeface="Century Schoolbook"/>
            </a:endParaRPr>
          </a:p>
        </p:txBody>
      </p:sp>
      <p:sp>
        <p:nvSpPr>
          <p:cNvPr id="55" name="Google Shape;55;p13"/>
          <p:cNvSpPr txBox="1"/>
          <p:nvPr/>
        </p:nvSpPr>
        <p:spPr>
          <a:xfrm>
            <a:off x="41825" y="4740600"/>
            <a:ext cx="6874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Century Schoolbook"/>
                <a:ea typeface="Century Schoolbook"/>
                <a:cs typeface="Century Schoolbook"/>
                <a:sym typeface="Century Schoolbook"/>
              </a:rPr>
              <a:t>by James and me only.</a:t>
            </a:r>
            <a:endParaRPr sz="1600">
              <a:solidFill>
                <a:srgbClr val="FAFAFA"/>
              </a:solidFill>
              <a:latin typeface="Century Schoolbook"/>
              <a:ea typeface="Century Schoolbook"/>
              <a:cs typeface="Century Schoolbook"/>
              <a:sym typeface="Century Schoolbook"/>
            </a:endParaRPr>
          </a:p>
        </p:txBody>
      </p:sp>
      <p:sp>
        <p:nvSpPr>
          <p:cNvPr id="56" name="Google Shape;56;p13"/>
          <p:cNvSpPr txBox="1"/>
          <p:nvPr/>
        </p:nvSpPr>
        <p:spPr>
          <a:xfrm>
            <a:off x="5443200" y="0"/>
            <a:ext cx="320700" cy="4340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871041213210010</a:t>
            </a:r>
            <a:endParaRPr sz="1800">
              <a:solidFill>
                <a:schemeClr val="dk2"/>
              </a:solidFill>
            </a:endParaRPr>
          </a:p>
        </p:txBody>
      </p:sp>
      <p:sp>
        <p:nvSpPr>
          <p:cNvPr id="57" name="Google Shape;57;p13"/>
          <p:cNvSpPr txBox="1"/>
          <p:nvPr/>
        </p:nvSpPr>
        <p:spPr>
          <a:xfrm>
            <a:off x="5763888" y="0"/>
            <a:ext cx="320700" cy="4617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5100321211111173</a:t>
            </a:r>
            <a:endParaRPr sz="1800">
              <a:solidFill>
                <a:schemeClr val="dk2"/>
              </a:solidFill>
            </a:endParaRPr>
          </a:p>
        </p:txBody>
      </p:sp>
      <p:sp>
        <p:nvSpPr>
          <p:cNvPr id="58" name="Google Shape;58;p13"/>
          <p:cNvSpPr txBox="1"/>
          <p:nvPr/>
        </p:nvSpPr>
        <p:spPr>
          <a:xfrm>
            <a:off x="6084600" y="0"/>
            <a:ext cx="320700" cy="5171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299111110118101114</a:t>
            </a:r>
            <a:endParaRPr sz="1800">
              <a:solidFill>
                <a:schemeClr val="dk2"/>
              </a:solidFill>
            </a:endParaRPr>
          </a:p>
        </p:txBody>
      </p:sp>
      <p:sp>
        <p:nvSpPr>
          <p:cNvPr id="59" name="Google Shape;59;p13"/>
          <p:cNvSpPr txBox="1"/>
          <p:nvPr/>
        </p:nvSpPr>
        <p:spPr>
          <a:xfrm>
            <a:off x="6405288" y="0"/>
            <a:ext cx="320700" cy="4617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1163211610410511</a:t>
            </a:r>
            <a:endParaRPr sz="1800">
              <a:solidFill>
                <a:schemeClr val="dk2"/>
              </a:solidFill>
            </a:endParaRPr>
          </a:p>
        </p:txBody>
      </p:sp>
      <p:sp>
        <p:nvSpPr>
          <p:cNvPr id="60" name="Google Shape;60;p13"/>
          <p:cNvSpPr txBox="1"/>
          <p:nvPr/>
        </p:nvSpPr>
        <p:spPr>
          <a:xfrm>
            <a:off x="6726000" y="0"/>
            <a:ext cx="320700" cy="3786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532989799107</a:t>
            </a:r>
            <a:endParaRPr b="1" sz="1800">
              <a:solidFill>
                <a:srgbClr val="999999"/>
              </a:solidFill>
              <a:latin typeface="Orbitron"/>
              <a:ea typeface="Orbitron"/>
              <a:cs typeface="Orbitron"/>
              <a:sym typeface="Orbitron"/>
            </a:endParaRPr>
          </a:p>
          <a:p>
            <a:pPr indent="0" lvl="0" marL="0" rtl="0" algn="l">
              <a:spcBef>
                <a:spcPts val="0"/>
              </a:spcBef>
              <a:spcAft>
                <a:spcPts val="0"/>
              </a:spcAft>
              <a:buNone/>
            </a:pPr>
            <a:r>
              <a:t/>
            </a:r>
            <a:endParaRPr b="1" sz="1800">
              <a:solidFill>
                <a:srgbClr val="999999"/>
              </a:solidFill>
              <a:latin typeface="Orbitron"/>
              <a:ea typeface="Orbitron"/>
              <a:cs typeface="Orbitron"/>
              <a:sym typeface="Orbitron"/>
            </a:endParaRPr>
          </a:p>
        </p:txBody>
      </p:sp>
      <p:sp>
        <p:nvSpPr>
          <p:cNvPr id="61" name="Google Shape;61;p13"/>
          <p:cNvSpPr txBox="1"/>
          <p:nvPr/>
        </p:nvSpPr>
        <p:spPr>
          <a:xfrm>
            <a:off x="7046688" y="0"/>
            <a:ext cx="320700" cy="46176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129769081720671</a:t>
            </a:r>
            <a:endParaRPr sz="1800">
              <a:solidFill>
                <a:schemeClr val="dk2"/>
              </a:solidFill>
            </a:endParaRPr>
          </a:p>
        </p:txBody>
      </p:sp>
      <p:sp>
        <p:nvSpPr>
          <p:cNvPr id="62" name="Google Shape;62;p13"/>
          <p:cNvSpPr txBox="1"/>
          <p:nvPr/>
        </p:nvSpPr>
        <p:spPr>
          <a:xfrm>
            <a:off x="7367388" y="0"/>
            <a:ext cx="320700" cy="46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189720671026610970</a:t>
            </a:r>
            <a:endParaRPr sz="1800">
              <a:solidFill>
                <a:schemeClr val="dk2"/>
              </a:solidFill>
            </a:endParaRPr>
          </a:p>
        </p:txBody>
      </p:sp>
      <p:sp>
        <p:nvSpPr>
          <p:cNvPr id="63" name="Google Shape;63;p13"/>
          <p:cNvSpPr txBox="1"/>
          <p:nvPr/>
        </p:nvSpPr>
        <p:spPr>
          <a:xfrm>
            <a:off x="7688088" y="0"/>
            <a:ext cx="320700" cy="46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7D7D7D"/>
                </a:solidFill>
                <a:latin typeface="Orbitron"/>
                <a:ea typeface="Orbitron"/>
                <a:cs typeface="Orbitron"/>
                <a:sym typeface="Orbitron"/>
              </a:rPr>
              <a:t>1</a:t>
            </a:r>
            <a:r>
              <a:rPr b="1" lang="en" sz="1800">
                <a:solidFill>
                  <a:srgbClr val="999999"/>
                </a:solidFill>
                <a:latin typeface="Orbitron"/>
                <a:ea typeface="Orbitron"/>
                <a:cs typeface="Orbitron"/>
                <a:sym typeface="Orbitron"/>
              </a:rPr>
              <a:t>87189760167</a:t>
            </a:r>
            <a:endParaRPr sz="1800">
              <a:solidFill>
                <a:schemeClr val="dk2"/>
              </a:solidFill>
            </a:endParaRPr>
          </a:p>
        </p:txBody>
      </p:sp>
      <p:sp>
        <p:nvSpPr>
          <p:cNvPr id="64" name="Google Shape;64;p13"/>
          <p:cNvSpPr txBox="1"/>
          <p:nvPr/>
        </p:nvSpPr>
        <p:spPr>
          <a:xfrm>
            <a:off x="8008788" y="0"/>
            <a:ext cx="320700" cy="46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7D7D7D"/>
                </a:solidFill>
                <a:latin typeface="Orbitron"/>
                <a:ea typeface="Orbitron"/>
                <a:cs typeface="Orbitron"/>
                <a:sym typeface="Orbitron"/>
              </a:rPr>
              <a:t>0</a:t>
            </a:r>
            <a:r>
              <a:rPr b="1" lang="en" sz="1800">
                <a:solidFill>
                  <a:srgbClr val="999999"/>
                </a:solidFill>
                <a:latin typeface="Orbitron"/>
                <a:ea typeface="Orbitron"/>
                <a:cs typeface="Orbitron"/>
                <a:sym typeface="Orbitron"/>
              </a:rPr>
              <a:t>86510672106710</a:t>
            </a:r>
            <a:endParaRPr sz="1800">
              <a:solidFill>
                <a:schemeClr val="dk2"/>
              </a:solidFill>
            </a:endParaRPr>
          </a:p>
        </p:txBody>
      </p:sp>
      <p:sp>
        <p:nvSpPr>
          <p:cNvPr id="65" name="Google Shape;65;p13"/>
          <p:cNvSpPr txBox="1"/>
          <p:nvPr/>
        </p:nvSpPr>
        <p:spPr>
          <a:xfrm>
            <a:off x="8329488" y="0"/>
            <a:ext cx="320700" cy="46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7D7D7D"/>
                </a:solidFill>
                <a:latin typeface="Orbitron"/>
                <a:ea typeface="Orbitron"/>
                <a:cs typeface="Orbitron"/>
                <a:sym typeface="Orbitron"/>
              </a:rPr>
              <a:t>0</a:t>
            </a:r>
            <a:r>
              <a:rPr b="1" lang="en" sz="1800">
                <a:solidFill>
                  <a:srgbClr val="999999"/>
                </a:solidFill>
                <a:latin typeface="Orbitron"/>
                <a:ea typeface="Orbitron"/>
                <a:cs typeface="Orbitron"/>
                <a:sym typeface="Orbitron"/>
              </a:rPr>
              <a:t>1976192762658101</a:t>
            </a:r>
            <a:endParaRPr sz="1800">
              <a:solidFill>
                <a:schemeClr val="dk2"/>
              </a:solidFill>
            </a:endParaRPr>
          </a:p>
        </p:txBody>
      </p:sp>
      <p:sp>
        <p:nvSpPr>
          <p:cNvPr id="66" name="Google Shape;66;p13"/>
          <p:cNvSpPr txBox="1"/>
          <p:nvPr/>
        </p:nvSpPr>
        <p:spPr>
          <a:xfrm>
            <a:off x="8650188" y="0"/>
            <a:ext cx="320700" cy="46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800">
                <a:solidFill>
                  <a:srgbClr val="7D7D7D"/>
                </a:solidFill>
                <a:latin typeface="Orbitron"/>
                <a:ea typeface="Orbitron"/>
                <a:cs typeface="Orbitron"/>
                <a:sym typeface="Orbitron"/>
              </a:rPr>
              <a:t>3</a:t>
            </a:r>
            <a:r>
              <a:rPr b="1" lang="en" sz="1800">
                <a:solidFill>
                  <a:srgbClr val="999999"/>
                </a:solidFill>
                <a:latin typeface="Orbitron"/>
                <a:ea typeface="Orbitron"/>
                <a:cs typeface="Orbitron"/>
                <a:sym typeface="Orbitron"/>
              </a:rPr>
              <a:t>65126861812659288</a:t>
            </a:r>
            <a:endParaRPr sz="1800">
              <a:solidFill>
                <a:schemeClr val="dk2"/>
              </a:solidFill>
            </a:endParaRPr>
          </a:p>
        </p:txBody>
      </p:sp>
      <p:sp>
        <p:nvSpPr>
          <p:cNvPr id="67" name="Google Shape;67;p13"/>
          <p:cNvSpPr txBox="1"/>
          <p:nvPr/>
        </p:nvSpPr>
        <p:spPr>
          <a:xfrm>
            <a:off x="5178225" y="0"/>
            <a:ext cx="320700" cy="4340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12867102761</a:t>
            </a:r>
            <a:endParaRPr sz="1800">
              <a:solidFill>
                <a:schemeClr val="dk2"/>
              </a:solidFill>
            </a:endParaRPr>
          </a:p>
        </p:txBody>
      </p:sp>
      <p:sp>
        <p:nvSpPr>
          <p:cNvPr id="68" name="Google Shape;68;p13"/>
          <p:cNvSpPr txBox="1"/>
          <p:nvPr/>
        </p:nvSpPr>
        <p:spPr>
          <a:xfrm>
            <a:off x="4857525" y="0"/>
            <a:ext cx="320700" cy="4340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846812</a:t>
            </a:r>
            <a:endParaRPr sz="1800">
              <a:solidFill>
                <a:schemeClr val="dk2"/>
              </a:solidFill>
            </a:endParaRPr>
          </a:p>
        </p:txBody>
      </p:sp>
      <p:sp>
        <p:nvSpPr>
          <p:cNvPr id="69" name="Google Shape;69;p13"/>
          <p:cNvSpPr txBox="1"/>
          <p:nvPr/>
        </p:nvSpPr>
        <p:spPr>
          <a:xfrm>
            <a:off x="4592550" y="0"/>
            <a:ext cx="320700" cy="4340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612</a:t>
            </a:r>
            <a:endParaRPr sz="1800">
              <a:solidFill>
                <a:schemeClr val="dk2"/>
              </a:solidFill>
            </a:endParaRPr>
          </a:p>
        </p:txBody>
      </p:sp>
      <p:sp>
        <p:nvSpPr>
          <p:cNvPr id="70" name="Google Shape;70;p13"/>
          <p:cNvSpPr txBox="1"/>
          <p:nvPr/>
        </p:nvSpPr>
        <p:spPr>
          <a:xfrm>
            <a:off x="4327600" y="0"/>
            <a:ext cx="320700" cy="4340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solidFill>
                  <a:srgbClr val="999999"/>
                </a:solidFill>
                <a:latin typeface="Orbitron"/>
                <a:ea typeface="Orbitron"/>
                <a:cs typeface="Orbitron"/>
                <a:sym typeface="Orbitron"/>
              </a:rPr>
              <a:t>4</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1">
                                  <p:stCondLst>
                                    <p:cond delay="0"/>
                                  </p:stCondLst>
                                  <p:childTnLst>
                                    <p:set>
                                      <p:cBhvr>
                                        <p:cTn dur="1" fill="hold">
                                          <p:stCondLst>
                                            <p:cond delay="0"/>
                                          </p:stCondLst>
                                        </p:cTn>
                                        <p:tgtEl>
                                          <p:spTgt spid="70"/>
                                        </p:tgtEl>
                                        <p:attrNameLst>
                                          <p:attrName>style.visibility</p:attrName>
                                        </p:attrNameLst>
                                      </p:cBhvr>
                                      <p:to>
                                        <p:strVal val="visible"/>
                                      </p:to>
                                    </p:set>
                                    <p:anim calcmode="lin" valueType="num">
                                      <p:cBhvr additive="base">
                                        <p:cTn dur="100"/>
                                        <p:tgtEl>
                                          <p:spTgt spid="7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69"/>
                                        </p:tgtEl>
                                        <p:attrNameLst>
                                          <p:attrName>style.visibility</p:attrName>
                                        </p:attrNameLst>
                                      </p:cBhvr>
                                      <p:to>
                                        <p:strVal val="visible"/>
                                      </p:to>
                                    </p:set>
                                    <p:anim calcmode="lin" valueType="num">
                                      <p:cBhvr additive="base">
                                        <p:cTn dur="200"/>
                                        <p:tgtEl>
                                          <p:spTgt spid="6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nvSpPr>
        <p:spPr>
          <a:xfrm>
            <a:off x="326725" y="383325"/>
            <a:ext cx="65931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Century Schoolbook"/>
                <a:ea typeface="Century Schoolbook"/>
                <a:cs typeface="Century Schoolbook"/>
                <a:sym typeface="Century Schoolbook"/>
              </a:rPr>
              <a:t>For our project, our 3 levels of </a:t>
            </a:r>
            <a:r>
              <a:rPr b="1" i="1" lang="en" sz="2000">
                <a:latin typeface="Century Schoolbook"/>
                <a:ea typeface="Century Schoolbook"/>
                <a:cs typeface="Century Schoolbook"/>
                <a:sym typeface="Century Schoolbook"/>
              </a:rPr>
              <a:t>en</a:t>
            </a:r>
            <a:r>
              <a:rPr b="1" lang="en" sz="2000">
                <a:latin typeface="Century Schoolbook"/>
                <a:ea typeface="Century Schoolbook"/>
                <a:cs typeface="Century Schoolbook"/>
                <a:sym typeface="Century Schoolbook"/>
              </a:rPr>
              <a:t>coding are</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rPr b="1" lang="en" sz="2000">
                <a:latin typeface="Century Schoolbook"/>
                <a:ea typeface="Century Schoolbook"/>
                <a:cs typeface="Century Schoolbook"/>
                <a:sym typeface="Century Schoolbook"/>
              </a:rPr>
              <a:t>1 - Caesar Cipher (shift of +2)</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rPr b="1" lang="en" sz="2000">
                <a:latin typeface="Century Schoolbook"/>
                <a:ea typeface="Century Schoolbook"/>
                <a:cs typeface="Century Schoolbook"/>
                <a:sym typeface="Century Schoolbook"/>
              </a:rPr>
              <a:t>2 - Substitution</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rPr b="1" lang="en" sz="2000">
                <a:latin typeface="Century Schoolbook"/>
                <a:ea typeface="Century Schoolbook"/>
                <a:cs typeface="Century Schoolbook"/>
                <a:sym typeface="Century Schoolbook"/>
              </a:rPr>
              <a:t>3 - ASCII conversion</a:t>
            </a:r>
            <a:endParaRPr b="1" sz="2000">
              <a:latin typeface="Century Schoolbook"/>
              <a:ea typeface="Century Schoolbook"/>
              <a:cs typeface="Century Schoolbook"/>
              <a:sym typeface="Century Schoolboo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 name="Shape 79"/>
        <p:cNvGrpSpPr/>
        <p:nvPr/>
      </p:nvGrpSpPr>
      <p:grpSpPr>
        <a:xfrm>
          <a:off x="0" y="0"/>
          <a:ext cx="0" cy="0"/>
          <a:chOff x="0" y="0"/>
          <a:chExt cx="0" cy="0"/>
        </a:xfrm>
      </p:grpSpPr>
      <p:sp>
        <p:nvSpPr>
          <p:cNvPr id="80" name="Google Shape;8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entury Schoolbook"/>
                <a:ea typeface="Century Schoolbook"/>
                <a:cs typeface="Century Schoolbook"/>
                <a:sym typeface="Century Schoolbook"/>
              </a:rPr>
              <a:t>Caesar Cipher</a:t>
            </a:r>
            <a:endParaRPr b="1">
              <a:latin typeface="Century Schoolbook"/>
              <a:ea typeface="Century Schoolbook"/>
              <a:cs typeface="Century Schoolbook"/>
              <a:sym typeface="Century Schoolbook"/>
            </a:endParaRPr>
          </a:p>
        </p:txBody>
      </p:sp>
      <p:sp>
        <p:nvSpPr>
          <p:cNvPr id="81" name="Google Shape;81;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entury Schoolbook"/>
                <a:ea typeface="Century Schoolbook"/>
                <a:cs typeface="Century Schoolbook"/>
                <a:sym typeface="Century Schoolbook"/>
              </a:rPr>
              <a:t>Caesar Cipher +2</a:t>
            </a:r>
            <a:r>
              <a:rPr lang="en">
                <a:latin typeface="Century Schoolbook"/>
                <a:ea typeface="Century Schoolbook"/>
                <a:cs typeface="Century Schoolbook"/>
                <a:sym typeface="Century Schoolbook"/>
              </a:rPr>
              <a:t> (with wrapping)</a:t>
            </a:r>
            <a:endParaRPr>
              <a:latin typeface="Century Schoolbook"/>
              <a:ea typeface="Century Schoolbook"/>
              <a:cs typeface="Century Schoolbook"/>
              <a:sym typeface="Century Schoolbook"/>
            </a:endParaRPr>
          </a:p>
          <a:p>
            <a:pPr indent="0" lvl="0" marL="0" rtl="0" algn="l">
              <a:spcBef>
                <a:spcPts val="1200"/>
              </a:spcBef>
              <a:spcAft>
                <a:spcPts val="0"/>
              </a:spcAft>
              <a:buNone/>
            </a:pPr>
            <a:r>
              <a:rPr lang="en">
                <a:latin typeface="Century Schoolbook"/>
                <a:ea typeface="Century Schoolbook"/>
                <a:cs typeface="Century Schoolbook"/>
                <a:sym typeface="Century Schoolbook"/>
              </a:rPr>
              <a:t>Detects if the character in a string is a ‘y’ or a ‘z’, and converts it into an ‘a’ or ‘b’.</a:t>
            </a:r>
            <a:endParaRPr>
              <a:latin typeface="Century Schoolbook"/>
              <a:ea typeface="Century Schoolbook"/>
              <a:cs typeface="Century Schoolbook"/>
              <a:sym typeface="Century Schoolbook"/>
            </a:endParaRPr>
          </a:p>
          <a:p>
            <a:pPr indent="0" lvl="0" marL="0" rtl="0" algn="l">
              <a:spcBef>
                <a:spcPts val="1200"/>
              </a:spcBef>
              <a:spcAft>
                <a:spcPts val="0"/>
              </a:spcAft>
              <a:buNone/>
            </a:pPr>
            <a:r>
              <a:rPr lang="en">
                <a:latin typeface="Century Schoolbook"/>
                <a:ea typeface="Century Schoolbook"/>
                <a:cs typeface="Century Schoolbook"/>
                <a:sym typeface="Century Schoolbook"/>
              </a:rPr>
              <a:t>The rest is regular caesar ciphering</a:t>
            </a:r>
            <a:endParaRPr>
              <a:latin typeface="Century Schoolbook"/>
              <a:ea typeface="Century Schoolbook"/>
              <a:cs typeface="Century Schoolbook"/>
              <a:sym typeface="Century Schoolbook"/>
            </a:endParaRPr>
          </a:p>
          <a:p>
            <a:pPr indent="0" lvl="0" marL="0" rtl="0" algn="l">
              <a:spcBef>
                <a:spcPts val="1200"/>
              </a:spcBef>
              <a:spcAft>
                <a:spcPts val="0"/>
              </a:spcAft>
              <a:buNone/>
            </a:pPr>
            <a:r>
              <a:rPr lang="en">
                <a:latin typeface="Century Schoolbook"/>
                <a:ea typeface="Century Schoolbook"/>
                <a:cs typeface="Century Schoolbook"/>
                <a:sym typeface="Century Schoolbook"/>
              </a:rPr>
              <a:t>Code determines an ascii value for each character and adds 2 (spaces count)</a:t>
            </a:r>
            <a:endParaRPr>
              <a:latin typeface="Century Schoolbook"/>
              <a:ea typeface="Century Schoolbook"/>
              <a:cs typeface="Century Schoolbook"/>
              <a:sym typeface="Century Schoolbook"/>
            </a:endParaRPr>
          </a:p>
          <a:p>
            <a:pPr indent="0" lvl="0" marL="0" rtl="0" algn="l">
              <a:spcBef>
                <a:spcPts val="1200"/>
              </a:spcBef>
              <a:spcAft>
                <a:spcPts val="0"/>
              </a:spcAft>
              <a:buNone/>
            </a:pPr>
            <a:r>
              <a:t/>
            </a:r>
            <a:endParaRPr b="1" sz="2400">
              <a:solidFill>
                <a:schemeClr val="dk1"/>
              </a:solidFill>
              <a:latin typeface="Century Schoolbook"/>
              <a:ea typeface="Century Schoolbook"/>
              <a:cs typeface="Century Schoolbook"/>
              <a:sym typeface="Century Schoolbook"/>
            </a:endParaRPr>
          </a:p>
          <a:p>
            <a:pPr indent="0" lvl="0" marL="0" rtl="0" algn="l">
              <a:spcBef>
                <a:spcPts val="1200"/>
              </a:spcBef>
              <a:spcAft>
                <a:spcPts val="1200"/>
              </a:spcAft>
              <a:buNone/>
            </a:pPr>
            <a:r>
              <a:rPr b="1" lang="en" sz="2400">
                <a:solidFill>
                  <a:schemeClr val="dk1"/>
                </a:solidFill>
                <a:latin typeface="Century Schoolbook"/>
                <a:ea typeface="Century Schoolbook"/>
                <a:cs typeface="Century Schoolbook"/>
                <a:sym typeface="Century Schoolbook"/>
              </a:rPr>
              <a:t>Example: Good Morning → Iqqf"Oqtpkpi</a:t>
            </a:r>
            <a:endParaRPr>
              <a:latin typeface="Century Schoolbook"/>
              <a:ea typeface="Century Schoolbook"/>
              <a:cs typeface="Century Schoolbook"/>
              <a:sym typeface="Century Schoolboo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entury Schoolbook"/>
                <a:ea typeface="Century Schoolbook"/>
                <a:cs typeface="Century Schoolbook"/>
                <a:sym typeface="Century Schoolbook"/>
              </a:rPr>
              <a:t>Substitution</a:t>
            </a:r>
            <a:endParaRPr b="1">
              <a:latin typeface="Century Schoolbook"/>
              <a:ea typeface="Century Schoolbook"/>
              <a:cs typeface="Century Schoolbook"/>
              <a:sym typeface="Century Schoolbook"/>
            </a:endParaRPr>
          </a:p>
        </p:txBody>
      </p:sp>
      <p:sp>
        <p:nvSpPr>
          <p:cNvPr id="87" name="Google Shape;8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entury Schoolbook"/>
                <a:ea typeface="Century Schoolbook"/>
                <a:cs typeface="Century Schoolbook"/>
                <a:sym typeface="Century Schoolbook"/>
              </a:rPr>
              <a:t>Substitution is a method of encoding that finds a certain character in a string and replaces it with a character of your choice.</a:t>
            </a:r>
            <a:endParaRPr>
              <a:latin typeface="Century Schoolbook"/>
              <a:ea typeface="Century Schoolbook"/>
              <a:cs typeface="Century Schoolbook"/>
              <a:sym typeface="Century Schoolbook"/>
            </a:endParaRPr>
          </a:p>
          <a:p>
            <a:pPr indent="0" lvl="0" marL="0" rtl="0" algn="l">
              <a:spcBef>
                <a:spcPts val="1200"/>
              </a:spcBef>
              <a:spcAft>
                <a:spcPts val="0"/>
              </a:spcAft>
              <a:buNone/>
            </a:pPr>
            <a:r>
              <a:t/>
            </a:r>
            <a:endParaRPr sz="2400">
              <a:solidFill>
                <a:schemeClr val="dk1"/>
              </a:solidFill>
              <a:latin typeface="Century Schoolbook"/>
              <a:ea typeface="Century Schoolbook"/>
              <a:cs typeface="Century Schoolbook"/>
              <a:sym typeface="Century Schoolbook"/>
            </a:endParaRPr>
          </a:p>
          <a:p>
            <a:pPr indent="0" lvl="0" marL="0" rtl="0" algn="l">
              <a:spcBef>
                <a:spcPts val="1200"/>
              </a:spcBef>
              <a:spcAft>
                <a:spcPts val="0"/>
              </a:spcAft>
              <a:buNone/>
            </a:pPr>
            <a:r>
              <a:rPr b="1" lang="en" sz="2400">
                <a:solidFill>
                  <a:schemeClr val="dk1"/>
                </a:solidFill>
                <a:latin typeface="Century Schoolbook"/>
                <a:ea typeface="Century Schoolbook"/>
                <a:cs typeface="Century Schoolbook"/>
                <a:sym typeface="Century Schoolbook"/>
              </a:rPr>
              <a:t>Example: Replace ‘t’ with ‘—’</a:t>
            </a:r>
            <a:endParaRPr b="1" sz="2400">
              <a:solidFill>
                <a:schemeClr val="dk1"/>
              </a:solidFill>
              <a:latin typeface="Century Schoolbook"/>
              <a:ea typeface="Century Schoolbook"/>
              <a:cs typeface="Century Schoolbook"/>
              <a:sym typeface="Century Schoolbook"/>
            </a:endParaRPr>
          </a:p>
          <a:p>
            <a:pPr indent="0" lvl="0" marL="0" rtl="0" algn="l">
              <a:spcBef>
                <a:spcPts val="1200"/>
              </a:spcBef>
              <a:spcAft>
                <a:spcPts val="1200"/>
              </a:spcAft>
              <a:buNone/>
            </a:pPr>
            <a:r>
              <a:rPr b="1" lang="en" sz="2400">
                <a:solidFill>
                  <a:schemeClr val="dk1"/>
                </a:solidFill>
                <a:latin typeface="Century Schoolbook"/>
                <a:ea typeface="Century Schoolbook"/>
                <a:cs typeface="Century Schoolbook"/>
                <a:sym typeface="Century Schoolbook"/>
              </a:rPr>
              <a:t>2 arrays: original characters to replace, and the replacement characters. </a:t>
            </a:r>
            <a:endParaRPr b="1" sz="24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entury Schoolbook"/>
                <a:ea typeface="Century Schoolbook"/>
                <a:cs typeface="Century Schoolbook"/>
                <a:sym typeface="Century Schoolbook"/>
              </a:rPr>
              <a:t>ASCII conversion</a:t>
            </a:r>
            <a:endParaRPr b="1">
              <a:latin typeface="Century Schoolbook"/>
              <a:ea typeface="Century Schoolbook"/>
              <a:cs typeface="Century Schoolbook"/>
              <a:sym typeface="Century Schoolbook"/>
            </a:endParaRPr>
          </a:p>
        </p:txBody>
      </p:sp>
      <p:sp>
        <p:nvSpPr>
          <p:cNvPr id="93" name="Google Shape;9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latin typeface="Century Schoolbook"/>
                <a:ea typeface="Century Schoolbook"/>
                <a:cs typeface="Century Schoolbook"/>
                <a:sym typeface="Century Schoolbook"/>
              </a:rPr>
              <a:t>To convert characters to their ASCII equivalents, (int)charAt(x) is required, as it converts each character into ASCII, which can be built character by character into a long string of numbers.</a:t>
            </a:r>
            <a:endParaRPr>
              <a:latin typeface="Century Schoolbook"/>
              <a:ea typeface="Century Schoolbook"/>
              <a:cs typeface="Century Schoolbook"/>
              <a:sym typeface="Century Schoolbook"/>
            </a:endParaRPr>
          </a:p>
          <a:p>
            <a:pPr indent="0" lvl="0" marL="0" rtl="0" algn="l">
              <a:spcBef>
                <a:spcPts val="1200"/>
              </a:spcBef>
              <a:spcAft>
                <a:spcPts val="0"/>
              </a:spcAft>
              <a:buNone/>
            </a:pPr>
            <a:r>
              <a:rPr lang="en">
                <a:latin typeface="Century Schoolbook"/>
                <a:ea typeface="Century Schoolbook"/>
                <a:cs typeface="Century Schoolbook"/>
                <a:sym typeface="Century Schoolbook"/>
              </a:rPr>
              <a:t>The numbers has to be a string because ints have a limit (2,147,483,647, or 10 digits)</a:t>
            </a:r>
            <a:endParaRPr>
              <a:latin typeface="Century Schoolbook"/>
              <a:ea typeface="Century Schoolbook"/>
              <a:cs typeface="Century Schoolbook"/>
              <a:sym typeface="Century Schoolbook"/>
            </a:endParaRPr>
          </a:p>
          <a:p>
            <a:pPr indent="0" lvl="0" marL="0" rtl="0" algn="l">
              <a:spcBef>
                <a:spcPts val="1200"/>
              </a:spcBef>
              <a:spcAft>
                <a:spcPts val="0"/>
              </a:spcAft>
              <a:buNone/>
            </a:pPr>
            <a:r>
              <a:rPr b="1" lang="en" sz="2400">
                <a:solidFill>
                  <a:schemeClr val="dk1"/>
                </a:solidFill>
                <a:latin typeface="Century Schoolbook"/>
                <a:ea typeface="Century Schoolbook"/>
                <a:cs typeface="Century Schoolbook"/>
                <a:sym typeface="Century Schoolbook"/>
              </a:rPr>
              <a:t>Example: Hello → 72101108108111</a:t>
            </a:r>
            <a:endParaRPr b="1" sz="2400">
              <a:solidFill>
                <a:schemeClr val="dk1"/>
              </a:solidFill>
              <a:latin typeface="Century Schoolbook"/>
              <a:ea typeface="Century Schoolbook"/>
              <a:cs typeface="Century Schoolbook"/>
              <a:sym typeface="Century Schoolbook"/>
            </a:endParaRPr>
          </a:p>
          <a:p>
            <a:pPr indent="0" lvl="0" marL="0" rtl="0" algn="l">
              <a:spcBef>
                <a:spcPts val="1200"/>
              </a:spcBef>
              <a:spcAft>
                <a:spcPts val="0"/>
              </a:spcAft>
              <a:buNone/>
            </a:pPr>
            <a:r>
              <a:rPr lang="en" sz="1800">
                <a:solidFill>
                  <a:schemeClr val="dk1"/>
                </a:solidFill>
                <a:latin typeface="Century Schoolbook"/>
                <a:ea typeface="Century Schoolbook"/>
                <a:cs typeface="Century Schoolbook"/>
                <a:sym typeface="Century Schoolbook"/>
              </a:rPr>
              <a:t>H → 72</a:t>
            </a:r>
            <a:endParaRPr sz="1800">
              <a:solidFill>
                <a:schemeClr val="dk1"/>
              </a:solidFill>
              <a:latin typeface="Century Schoolbook"/>
              <a:ea typeface="Century Schoolbook"/>
              <a:cs typeface="Century Schoolbook"/>
              <a:sym typeface="Century Schoolbook"/>
            </a:endParaRPr>
          </a:p>
          <a:p>
            <a:pPr indent="0" lvl="0" marL="0" rtl="0" algn="l">
              <a:spcBef>
                <a:spcPts val="1200"/>
              </a:spcBef>
              <a:spcAft>
                <a:spcPts val="0"/>
              </a:spcAft>
              <a:buNone/>
            </a:pPr>
            <a:r>
              <a:rPr lang="en" sz="1800">
                <a:solidFill>
                  <a:schemeClr val="dk1"/>
                </a:solidFill>
                <a:latin typeface="Century Schoolbook"/>
                <a:ea typeface="Century Schoolbook"/>
                <a:cs typeface="Century Schoolbook"/>
                <a:sym typeface="Century Schoolbook"/>
              </a:rPr>
              <a:t>e</a:t>
            </a:r>
            <a:r>
              <a:rPr lang="en" sz="1800">
                <a:solidFill>
                  <a:schemeClr val="dk1"/>
                </a:solidFill>
                <a:latin typeface="Century Schoolbook"/>
                <a:ea typeface="Century Schoolbook"/>
                <a:cs typeface="Century Schoolbook"/>
                <a:sym typeface="Century Schoolbook"/>
              </a:rPr>
              <a:t> → 101</a:t>
            </a:r>
            <a:endParaRPr sz="1800">
              <a:solidFill>
                <a:schemeClr val="dk1"/>
              </a:solidFill>
              <a:latin typeface="Century Schoolbook"/>
              <a:ea typeface="Century Schoolbook"/>
              <a:cs typeface="Century Schoolbook"/>
              <a:sym typeface="Century Schoolbook"/>
            </a:endParaRPr>
          </a:p>
          <a:p>
            <a:pPr indent="0" lvl="0" marL="0" rtl="0" algn="l">
              <a:spcBef>
                <a:spcPts val="1200"/>
              </a:spcBef>
              <a:spcAft>
                <a:spcPts val="0"/>
              </a:spcAft>
              <a:buNone/>
            </a:pPr>
            <a:r>
              <a:rPr lang="en" sz="1800">
                <a:solidFill>
                  <a:schemeClr val="dk1"/>
                </a:solidFill>
                <a:latin typeface="Century Schoolbook"/>
                <a:ea typeface="Century Schoolbook"/>
                <a:cs typeface="Century Schoolbook"/>
                <a:sym typeface="Century Schoolbook"/>
              </a:rPr>
              <a:t>l → 108</a:t>
            </a:r>
            <a:endParaRPr sz="1800">
              <a:solidFill>
                <a:schemeClr val="dk1"/>
              </a:solidFill>
              <a:latin typeface="Century Schoolbook"/>
              <a:ea typeface="Century Schoolbook"/>
              <a:cs typeface="Century Schoolbook"/>
              <a:sym typeface="Century Schoolbook"/>
            </a:endParaRPr>
          </a:p>
          <a:p>
            <a:pPr indent="0" lvl="0" marL="0" rtl="0" algn="l">
              <a:spcBef>
                <a:spcPts val="1200"/>
              </a:spcBef>
              <a:spcAft>
                <a:spcPts val="0"/>
              </a:spcAft>
              <a:buNone/>
            </a:pPr>
            <a:r>
              <a:rPr lang="en" sz="1800">
                <a:solidFill>
                  <a:schemeClr val="dk1"/>
                </a:solidFill>
                <a:latin typeface="Century Schoolbook"/>
                <a:ea typeface="Century Schoolbook"/>
                <a:cs typeface="Century Schoolbook"/>
                <a:sym typeface="Century Schoolbook"/>
              </a:rPr>
              <a:t>l → 108</a:t>
            </a:r>
            <a:endParaRPr sz="1800">
              <a:solidFill>
                <a:schemeClr val="dk1"/>
              </a:solidFill>
              <a:latin typeface="Century Schoolbook"/>
              <a:ea typeface="Century Schoolbook"/>
              <a:cs typeface="Century Schoolbook"/>
              <a:sym typeface="Century Schoolbook"/>
            </a:endParaRPr>
          </a:p>
          <a:p>
            <a:pPr indent="0" lvl="0" marL="0" rtl="0" algn="l">
              <a:spcBef>
                <a:spcPts val="1200"/>
              </a:spcBef>
              <a:spcAft>
                <a:spcPts val="1200"/>
              </a:spcAft>
              <a:buNone/>
            </a:pPr>
            <a:r>
              <a:rPr lang="en" sz="1800">
                <a:solidFill>
                  <a:schemeClr val="dk1"/>
                </a:solidFill>
                <a:latin typeface="Century Schoolbook"/>
                <a:ea typeface="Century Schoolbook"/>
                <a:cs typeface="Century Schoolbook"/>
                <a:sym typeface="Century Schoolbook"/>
              </a:rPr>
              <a:t>o → 111</a:t>
            </a:r>
            <a:endParaRPr sz="18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nvSpPr>
        <p:spPr>
          <a:xfrm>
            <a:off x="313775" y="299675"/>
            <a:ext cx="65931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latin typeface="Century Schoolbook"/>
                <a:ea typeface="Century Schoolbook"/>
                <a:cs typeface="Century Schoolbook"/>
                <a:sym typeface="Century Schoolbook"/>
              </a:rPr>
              <a:t>Our </a:t>
            </a:r>
            <a:r>
              <a:rPr b="1" lang="en" sz="2000">
                <a:latin typeface="Century Schoolbook"/>
                <a:ea typeface="Century Schoolbook"/>
                <a:cs typeface="Century Schoolbook"/>
                <a:sym typeface="Century Schoolbook"/>
              </a:rPr>
              <a:t>3 levels of </a:t>
            </a:r>
            <a:r>
              <a:rPr b="1" i="1" lang="en" sz="2000">
                <a:latin typeface="Century Schoolbook"/>
                <a:ea typeface="Century Schoolbook"/>
                <a:cs typeface="Century Schoolbook"/>
                <a:sym typeface="Century Schoolbook"/>
              </a:rPr>
              <a:t>de</a:t>
            </a:r>
            <a:r>
              <a:rPr b="1" lang="en" sz="2000">
                <a:latin typeface="Century Schoolbook"/>
                <a:ea typeface="Century Schoolbook"/>
                <a:cs typeface="Century Schoolbook"/>
                <a:sym typeface="Century Schoolbook"/>
              </a:rPr>
              <a:t>coding are</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rPr b="1" lang="en" sz="2000">
                <a:latin typeface="Century Schoolbook"/>
                <a:ea typeface="Century Schoolbook"/>
                <a:cs typeface="Century Schoolbook"/>
                <a:sym typeface="Century Schoolbook"/>
              </a:rPr>
              <a:t>1 - ASCII conversion</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rPr b="1" lang="en" sz="2000">
                <a:latin typeface="Century Schoolbook"/>
                <a:ea typeface="Century Schoolbook"/>
                <a:cs typeface="Century Schoolbook"/>
                <a:sym typeface="Century Schoolbook"/>
              </a:rPr>
              <a:t>2 - Substitution</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rPr b="1" lang="en" sz="2000">
                <a:latin typeface="Century Schoolbook"/>
                <a:ea typeface="Century Schoolbook"/>
                <a:cs typeface="Century Schoolbook"/>
                <a:sym typeface="Century Schoolbook"/>
              </a:rPr>
              <a:t>3 - Caesar Cipher (shift of -2)</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t/>
            </a:r>
            <a:endParaRPr b="1" sz="2000">
              <a:latin typeface="Century Schoolbook"/>
              <a:ea typeface="Century Schoolbook"/>
              <a:cs typeface="Century Schoolbook"/>
              <a:sym typeface="Century Schoolbook"/>
            </a:endParaRPr>
          </a:p>
          <a:p>
            <a:pPr indent="0" lvl="0" marL="0" rtl="0" algn="l">
              <a:spcBef>
                <a:spcPts val="0"/>
              </a:spcBef>
              <a:spcAft>
                <a:spcPts val="0"/>
              </a:spcAft>
              <a:buNone/>
            </a:pPr>
            <a:r>
              <a:rPr b="1" lang="en" sz="2000">
                <a:latin typeface="Century Schoolbook"/>
                <a:ea typeface="Century Schoolbook"/>
                <a:cs typeface="Century Schoolbook"/>
                <a:sym typeface="Century Schoolbook"/>
              </a:rPr>
              <a:t>(the same thing but reversed)</a:t>
            </a:r>
            <a:endParaRPr b="1" sz="2000">
              <a:latin typeface="Century Schoolbook"/>
              <a:ea typeface="Century Schoolbook"/>
              <a:cs typeface="Century Schoolbook"/>
              <a:sym typeface="Century Schoolbook"/>
            </a:endParaRPr>
          </a:p>
        </p:txBody>
      </p:sp>
      <p:pic>
        <p:nvPicPr>
          <p:cNvPr id="99" name="Google Shape;99;p18"/>
          <p:cNvPicPr preferRelativeResize="0"/>
          <p:nvPr/>
        </p:nvPicPr>
        <p:blipFill>
          <a:blip r:embed="rId3">
            <a:alphaModFix/>
          </a:blip>
          <a:stretch>
            <a:fillRect/>
          </a:stretch>
        </p:blipFill>
        <p:spPr>
          <a:xfrm>
            <a:off x="4411700" y="2623050"/>
            <a:ext cx="788475" cy="936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0"/>
                                        <p:tgtEl>
                                          <p:spTgt spid="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entury Schoolbook"/>
                <a:ea typeface="Century Schoolbook"/>
                <a:cs typeface="Century Schoolbook"/>
                <a:sym typeface="Century Schoolbook"/>
              </a:rPr>
              <a:t>ASCII Conversion (Decoding)</a:t>
            </a:r>
            <a:endParaRPr b="1">
              <a:latin typeface="Century Schoolbook"/>
              <a:ea typeface="Century Schoolbook"/>
              <a:cs typeface="Century Schoolbook"/>
              <a:sym typeface="Century Schoolbook"/>
            </a:endParaRPr>
          </a:p>
        </p:txBody>
      </p:sp>
      <p:sp>
        <p:nvSpPr>
          <p:cNvPr id="105" name="Google Shape;10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latin typeface="Century Schoolbook"/>
                <a:ea typeface="Century Schoolbook"/>
                <a:cs typeface="Century Schoolbook"/>
                <a:sym typeface="Century Schoolbook"/>
              </a:rPr>
              <a:t>To decode ASCII numbers, it first has to detect if the leading digit is a 1 or not. If the leading digit is 1, it will parse the next 2 digits into ints, thereby converting the number into its corresponding character. If the leading digit is not 1, then it will parse the next digit into ints, and converting the int back into a char.</a:t>
            </a:r>
            <a:endParaRPr>
              <a:latin typeface="Century Schoolbook"/>
              <a:ea typeface="Century Schoolbook"/>
              <a:cs typeface="Century Schoolbook"/>
              <a:sym typeface="Century Schoolbook"/>
            </a:endParaRPr>
          </a:p>
          <a:p>
            <a:pPr indent="0" lvl="0" marL="0" rtl="0" algn="l">
              <a:spcBef>
                <a:spcPts val="1200"/>
              </a:spcBef>
              <a:spcAft>
                <a:spcPts val="0"/>
              </a:spcAft>
              <a:buNone/>
            </a:pPr>
            <a:r>
              <a:t/>
            </a:r>
            <a:endParaRPr>
              <a:latin typeface="Century Schoolbook"/>
              <a:ea typeface="Century Schoolbook"/>
              <a:cs typeface="Century Schoolbook"/>
              <a:sym typeface="Century Schoolbook"/>
            </a:endParaRPr>
          </a:p>
          <a:p>
            <a:pPr indent="0" lvl="0" marL="0" rtl="0" algn="l">
              <a:spcBef>
                <a:spcPts val="1200"/>
              </a:spcBef>
              <a:spcAft>
                <a:spcPts val="0"/>
              </a:spcAft>
              <a:buNone/>
            </a:pPr>
            <a:r>
              <a:rPr b="1" lang="en" sz="2400">
                <a:solidFill>
                  <a:schemeClr val="dk1"/>
                </a:solidFill>
                <a:latin typeface="Century Schoolbook"/>
                <a:ea typeface="Century Schoolbook"/>
                <a:cs typeface="Century Schoolbook"/>
                <a:sym typeface="Century Schoolbook"/>
              </a:rPr>
              <a:t>Example:  10710460  → GD0</a:t>
            </a:r>
            <a:endParaRPr b="1" sz="2400">
              <a:solidFill>
                <a:schemeClr val="dk1"/>
              </a:solidFill>
              <a:latin typeface="Century Schoolbook"/>
              <a:ea typeface="Century Schoolbook"/>
              <a:cs typeface="Century Schoolbook"/>
              <a:sym typeface="Century Schoolbook"/>
            </a:endParaRPr>
          </a:p>
          <a:p>
            <a:pPr indent="0" lvl="0" marL="0" rtl="0" algn="l">
              <a:spcBef>
                <a:spcPts val="1200"/>
              </a:spcBef>
              <a:spcAft>
                <a:spcPts val="0"/>
              </a:spcAft>
              <a:buNone/>
            </a:pPr>
            <a:r>
              <a:rPr b="1" lang="en" sz="2400">
                <a:solidFill>
                  <a:schemeClr val="dk1"/>
                </a:solidFill>
                <a:latin typeface="Century Schoolbook"/>
                <a:ea typeface="Century Schoolbook"/>
                <a:cs typeface="Century Schoolbook"/>
                <a:sym typeface="Century Schoolbook"/>
              </a:rPr>
              <a:t>First and second digits are 1, the code parses the 3 digits (107&amp;104) G, D</a:t>
            </a:r>
            <a:endParaRPr b="1" sz="2400">
              <a:solidFill>
                <a:schemeClr val="dk1"/>
              </a:solidFill>
              <a:latin typeface="Century Schoolbook"/>
              <a:ea typeface="Century Schoolbook"/>
              <a:cs typeface="Century Schoolbook"/>
              <a:sym typeface="Century Schoolbook"/>
            </a:endParaRPr>
          </a:p>
          <a:p>
            <a:pPr indent="0" lvl="0" marL="0" rtl="0" algn="l">
              <a:spcBef>
                <a:spcPts val="1200"/>
              </a:spcBef>
              <a:spcAft>
                <a:spcPts val="1200"/>
              </a:spcAft>
              <a:buNone/>
            </a:pPr>
            <a:r>
              <a:rPr b="1" lang="en" sz="2400">
                <a:solidFill>
                  <a:schemeClr val="dk1"/>
                </a:solidFill>
                <a:latin typeface="Century Schoolbook"/>
                <a:ea typeface="Century Schoolbook"/>
                <a:cs typeface="Century Schoolbook"/>
                <a:sym typeface="Century Schoolbook"/>
              </a:rPr>
              <a:t>Second digit is 6, code parses the 2 digits (60) 0</a:t>
            </a:r>
            <a:endParaRPr b="1" sz="2400">
              <a:solidFill>
                <a:schemeClr val="dk1"/>
              </a:solidFill>
              <a:latin typeface="Century Schoolbook"/>
              <a:ea typeface="Century Schoolbook"/>
              <a:cs typeface="Century Schoolbook"/>
              <a:sym typeface="Century Schoolboo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entury Schoolbook"/>
                <a:ea typeface="Century Schoolbook"/>
                <a:cs typeface="Century Schoolbook"/>
                <a:sym typeface="Century Schoolbook"/>
              </a:rPr>
              <a:t>Substitution</a:t>
            </a:r>
            <a:endParaRPr b="1">
              <a:latin typeface="Century Schoolbook"/>
              <a:ea typeface="Century Schoolbook"/>
              <a:cs typeface="Century Schoolbook"/>
              <a:sym typeface="Century Schoolbook"/>
            </a:endParaRPr>
          </a:p>
        </p:txBody>
      </p:sp>
      <p:sp>
        <p:nvSpPr>
          <p:cNvPr id="111" name="Google Shape;111;p20"/>
          <p:cNvSpPr txBox="1"/>
          <p:nvPr/>
        </p:nvSpPr>
        <p:spPr>
          <a:xfrm>
            <a:off x="0" y="4712400"/>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AFAFA"/>
                </a:solidFill>
                <a:latin typeface="Century Schoolbook"/>
                <a:ea typeface="Century Schoolbook"/>
                <a:cs typeface="Century Schoolbook"/>
                <a:sym typeface="Century Schoolbook"/>
              </a:rPr>
              <a:t>“beat it on stream” - vel</a:t>
            </a:r>
            <a:endParaRPr sz="1600">
              <a:solidFill>
                <a:srgbClr val="FAFAFA"/>
              </a:solidFill>
              <a:latin typeface="Century Schoolbook"/>
              <a:ea typeface="Century Schoolbook"/>
              <a:cs typeface="Century Schoolbook"/>
              <a:sym typeface="Century Schoolbook"/>
            </a:endParaRPr>
          </a:p>
        </p:txBody>
      </p:sp>
      <p:sp>
        <p:nvSpPr>
          <p:cNvPr id="112" name="Google Shape;112;p20"/>
          <p:cNvSpPr txBox="1"/>
          <p:nvPr>
            <p:ph idx="1" type="body"/>
          </p:nvPr>
        </p:nvSpPr>
        <p:spPr>
          <a:xfrm>
            <a:off x="365000" y="11125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entury Schoolbook"/>
                <a:ea typeface="Century Schoolbook"/>
                <a:cs typeface="Century Schoolbook"/>
                <a:sym typeface="Century Schoolbook"/>
              </a:rPr>
              <a:t>Reverse the method of substitution by using the same function, but instead reversing the substitutor and the thing being substituted.</a:t>
            </a:r>
            <a:endParaRPr>
              <a:latin typeface="Century Schoolbook"/>
              <a:ea typeface="Century Schoolbook"/>
              <a:cs typeface="Century Schoolbook"/>
              <a:sym typeface="Century Schoolbook"/>
            </a:endParaRPr>
          </a:p>
          <a:p>
            <a:pPr indent="0" lvl="0" marL="0" rtl="0" algn="l">
              <a:spcBef>
                <a:spcPts val="1200"/>
              </a:spcBef>
              <a:spcAft>
                <a:spcPts val="0"/>
              </a:spcAft>
              <a:buNone/>
            </a:pPr>
            <a:r>
              <a:t/>
            </a:r>
            <a:endParaRPr>
              <a:latin typeface="Century Schoolbook"/>
              <a:ea typeface="Century Schoolbook"/>
              <a:cs typeface="Century Schoolbook"/>
              <a:sym typeface="Century Schoolbook"/>
            </a:endParaRPr>
          </a:p>
          <a:p>
            <a:pPr indent="0" lvl="0" marL="0" rtl="0" algn="l">
              <a:spcBef>
                <a:spcPts val="1200"/>
              </a:spcBef>
              <a:spcAft>
                <a:spcPts val="1200"/>
              </a:spcAft>
              <a:buClr>
                <a:schemeClr val="dk1"/>
              </a:buClr>
              <a:buSzPts val="1100"/>
              <a:buFont typeface="Arial"/>
              <a:buNone/>
            </a:pPr>
            <a:r>
              <a:rPr b="1" lang="en" sz="2400">
                <a:solidFill>
                  <a:schemeClr val="dk1"/>
                </a:solidFill>
                <a:latin typeface="Century Schoolbook"/>
                <a:ea typeface="Century Schoolbook"/>
                <a:cs typeface="Century Schoolbook"/>
                <a:sym typeface="Century Schoolbook"/>
              </a:rPr>
              <a:t>Example: Replace ‘—’ with ‘t’</a:t>
            </a:r>
            <a:endParaRPr b="1">
              <a:latin typeface="Century Schoolbook"/>
              <a:ea typeface="Century Schoolbook"/>
              <a:cs typeface="Century Schoolbook"/>
              <a:sym typeface="Century Schoolboo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Century Schoolbook"/>
                <a:ea typeface="Century Schoolbook"/>
                <a:cs typeface="Century Schoolbook"/>
                <a:sym typeface="Century Schoolbook"/>
              </a:rPr>
              <a:t>Caesar Cipher (-2)</a:t>
            </a:r>
            <a:endParaRPr b="1">
              <a:latin typeface="Century Schoolbook"/>
              <a:ea typeface="Century Schoolbook"/>
              <a:cs typeface="Century Schoolbook"/>
              <a:sym typeface="Century Schoolbook"/>
            </a:endParaRPr>
          </a:p>
        </p:txBody>
      </p:sp>
      <p:sp>
        <p:nvSpPr>
          <p:cNvPr id="118" name="Google Shape;11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latin typeface="Century Schoolbook"/>
                <a:ea typeface="Century Schoolbook"/>
                <a:cs typeface="Century Schoolbook"/>
                <a:sym typeface="Century Schoolbook"/>
              </a:rPr>
              <a:t>Caesar Cipher of -2 with wrapping</a:t>
            </a:r>
            <a:endParaRPr>
              <a:latin typeface="Century Schoolbook"/>
              <a:ea typeface="Century Schoolbook"/>
              <a:cs typeface="Century Schoolbook"/>
              <a:sym typeface="Century Schoolbook"/>
            </a:endParaRPr>
          </a:p>
          <a:p>
            <a:pPr indent="0" lvl="0" marL="0" rtl="0" algn="l">
              <a:spcBef>
                <a:spcPts val="1200"/>
              </a:spcBef>
              <a:spcAft>
                <a:spcPts val="0"/>
              </a:spcAft>
              <a:buClr>
                <a:schemeClr val="dk1"/>
              </a:buClr>
              <a:buSzPts val="1100"/>
              <a:buFont typeface="Arial"/>
              <a:buNone/>
            </a:pPr>
            <a:r>
              <a:rPr lang="en">
                <a:latin typeface="Century Schoolbook"/>
                <a:ea typeface="Century Schoolbook"/>
                <a:cs typeface="Century Schoolbook"/>
                <a:sym typeface="Century Schoolbook"/>
              </a:rPr>
              <a:t>Detects if the character in a string is a ‘a’ or a ‘b’, and converts it into an ‘y’ or ‘z’.</a:t>
            </a:r>
            <a:endParaRPr>
              <a:latin typeface="Century Schoolbook"/>
              <a:ea typeface="Century Schoolbook"/>
              <a:cs typeface="Century Schoolbook"/>
              <a:sym typeface="Century Schoolbook"/>
            </a:endParaRPr>
          </a:p>
          <a:p>
            <a:pPr indent="0" lvl="0" marL="0" rtl="0" algn="l">
              <a:spcBef>
                <a:spcPts val="1200"/>
              </a:spcBef>
              <a:spcAft>
                <a:spcPts val="0"/>
              </a:spcAft>
              <a:buClr>
                <a:schemeClr val="dk1"/>
              </a:buClr>
              <a:buSzPts val="1100"/>
              <a:buFont typeface="Arial"/>
              <a:buNone/>
            </a:pPr>
            <a:r>
              <a:rPr lang="en">
                <a:latin typeface="Century Schoolbook"/>
                <a:ea typeface="Century Schoolbook"/>
                <a:cs typeface="Century Schoolbook"/>
                <a:sym typeface="Century Schoolbook"/>
              </a:rPr>
              <a:t>The rest is regular caesar ciphering</a:t>
            </a:r>
            <a:endParaRPr>
              <a:latin typeface="Century Schoolbook"/>
              <a:ea typeface="Century Schoolbook"/>
              <a:cs typeface="Century Schoolbook"/>
              <a:sym typeface="Century Schoolbook"/>
            </a:endParaRPr>
          </a:p>
          <a:p>
            <a:pPr indent="0" lvl="0" marL="0" rtl="0" algn="l">
              <a:spcBef>
                <a:spcPts val="1200"/>
              </a:spcBef>
              <a:spcAft>
                <a:spcPts val="0"/>
              </a:spcAft>
              <a:buNone/>
            </a:pPr>
            <a:r>
              <a:rPr lang="en">
                <a:latin typeface="Century Schoolbook"/>
                <a:ea typeface="Century Schoolbook"/>
                <a:cs typeface="Century Schoolbook"/>
                <a:sym typeface="Century Schoolbook"/>
              </a:rPr>
              <a:t>Code determines an ascii value for each character and subtracts 2 (spaces count)</a:t>
            </a:r>
            <a:endParaRPr>
              <a:latin typeface="Century Schoolbook"/>
              <a:ea typeface="Century Schoolbook"/>
              <a:cs typeface="Century Schoolbook"/>
              <a:sym typeface="Century Schoolbook"/>
            </a:endParaRPr>
          </a:p>
          <a:p>
            <a:pPr indent="0" lvl="0" marL="0" rtl="0" algn="l">
              <a:spcBef>
                <a:spcPts val="1200"/>
              </a:spcBef>
              <a:spcAft>
                <a:spcPts val="1200"/>
              </a:spcAft>
              <a:buClr>
                <a:schemeClr val="dk1"/>
              </a:buClr>
              <a:buSzPts val="1100"/>
              <a:buFont typeface="Arial"/>
              <a:buNone/>
            </a:pPr>
            <a:r>
              <a:rPr b="1" lang="en" sz="2400">
                <a:solidFill>
                  <a:schemeClr val="dk1"/>
                </a:solidFill>
                <a:latin typeface="Century Schoolbook"/>
                <a:ea typeface="Century Schoolbook"/>
                <a:cs typeface="Century Schoolbook"/>
                <a:sym typeface="Century Schoolbook"/>
              </a:rPr>
              <a:t>Example: Jgnnq → Hello</a:t>
            </a:r>
            <a:endParaRPr b="1">
              <a:latin typeface="Century Schoolbook"/>
              <a:ea typeface="Century Schoolbook"/>
              <a:cs typeface="Century Schoolbook"/>
              <a:sym typeface="Century Schoolboo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nvSpPr>
        <p:spPr>
          <a:xfrm>
            <a:off x="227125" y="151375"/>
            <a:ext cx="85206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2800"/>
              <a:t>e</a:t>
            </a:r>
            <a:r>
              <a:rPr lang="en" sz="2800"/>
              <a:t>nd of presentation</a:t>
            </a:r>
            <a:endParaRPr sz="2800">
              <a:solidFill>
                <a:srgbClr val="000000"/>
              </a:solidFill>
            </a:endParaRPr>
          </a:p>
        </p:txBody>
      </p:sp>
      <p:sp>
        <p:nvSpPr>
          <p:cNvPr id="124" name="Google Shape;124;p22"/>
          <p:cNvSpPr txBox="1"/>
          <p:nvPr/>
        </p:nvSpPr>
        <p:spPr>
          <a:xfrm>
            <a:off x="436200" y="10191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sz="1800">
              <a:solidFill>
                <a:srgbClr val="595959"/>
              </a:solidFill>
            </a:endParaRPr>
          </a:p>
          <a:p>
            <a:pPr indent="0" lvl="0" marL="0" rtl="0" algn="l">
              <a:lnSpc>
                <a:spcPct val="115000"/>
              </a:lnSpc>
              <a:spcBef>
                <a:spcPts val="1200"/>
              </a:spcBef>
              <a:spcAft>
                <a:spcPts val="0"/>
              </a:spcAft>
              <a:buNone/>
            </a:pPr>
            <a:r>
              <a:t/>
            </a:r>
            <a:endParaRPr sz="1800">
              <a:solidFill>
                <a:srgbClr val="595959"/>
              </a:solidFill>
            </a:endParaRPr>
          </a:p>
          <a:p>
            <a:pPr indent="0" lvl="0" marL="0" rtl="0" algn="l">
              <a:lnSpc>
                <a:spcPct val="115000"/>
              </a:lnSpc>
              <a:spcBef>
                <a:spcPts val="1200"/>
              </a:spcBef>
              <a:spcAft>
                <a:spcPts val="1200"/>
              </a:spcAft>
              <a:buNone/>
            </a:pPr>
            <a:r>
              <a:rPr lang="en" sz="1800">
                <a:solidFill>
                  <a:srgbClr val="595959"/>
                </a:solidFill>
              </a:rPr>
              <a:t>thank you guys  for listening</a:t>
            </a:r>
            <a:endParaRPr sz="1800">
              <a:solidFill>
                <a:srgbClr val="595959"/>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